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2926080"/>
            <a:ext cx="12024360" cy="54864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</a:rPr>
              <a:t>ADVANX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B4D8"/>
                </a:solidFill>
              </a:rPr>
              <a:t>Ordena.  Mide.  Escala.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EFEFEF"/>
                </a:solidFill>
              </a:rPr>
              <a:t>"Las PyMEs en México no mueren por falta de clientes.
Mueren porque no pueden con los que ya tienen."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Sesión de alineación · 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El problema que resolvemos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4864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241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No sabe qué hay en inventario sin preguntarle a alguien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54864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Un reporte le toma 2 horas hacerlo a mano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83280"/>
            <a:ext cx="54864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015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Cuando un empleado clave se va, el conocimiento se va con él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72000"/>
            <a:ext cx="54864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902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Las decisiones se toman por intuición, no por datos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7150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Síntoma visible: alguien tiene como trabajo principal actualizar un Excel todos los días.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¿A quién le vendemos?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2926080" cy="6858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097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Tamaño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0789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EFEF"/>
                </a:solidFill>
              </a:rPr>
              <a:t>20–80 empleados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2926080" cy="6858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03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Industrias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0848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EFEF"/>
                </a:solidFill>
              </a:rPr>
              <a:t>Manufactura · Distribución · Alimentos · Servicios con operación física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2926080" cy="6858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1089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Síntoma visible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9067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EFEF"/>
                </a:solidFill>
              </a:rPr>
              <a:t>Alguien actualiza Excel a diario como su trabajo principal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2926080" cy="6858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114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Dolor del dueño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09651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EFEF"/>
                </a:solidFill>
              </a:rPr>
              <a:t>"No sé qué pasa en mi negocio sin preguntarle a alguien"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9200"/>
            <a:ext cx="2926080" cy="6858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1206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Filtro clave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1023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EFEF"/>
                </a:solidFill>
              </a:rPr>
              <a:t>¿No puedo con los clientes que tengo? → SÍ es nuestro cliente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¿Qué es Advanx?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Diagnostica, ordena y automatiza los procesos clave de una PyME
para que pueda crecer con datos reales.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0D0D"/>
                </a:solidFill>
              </a:rPr>
              <a:t>El diferenciador: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0D0D"/>
                </a:solidFill>
              </a:rPr>
              <a:t>No hacemos reportes. Construimos sistemas.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Versus las alternativas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20440"/>
            <a:ext cx="3200400" cy="54864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5935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Contratar TI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61188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EFEF"/>
                </a:solidFill>
              </a:rPr>
              <a:t>Advanx trae método + ejecución, no solo el recurso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33672"/>
            <a:ext cx="3200400" cy="54864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30682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Implementar un ERP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4325112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EFEF"/>
                </a:solidFill>
              </a:rPr>
              <a:t>Primero ordenamos el proceso, luego lo digitalizamos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46904"/>
            <a:ext cx="3200400" cy="54864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02005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Seguir con Excel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5038344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EFEF"/>
                </a:solidFill>
              </a:rPr>
              <a:t>El costo de la ineficiencia ya superó el costo del cambio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60136"/>
            <a:ext cx="3200400" cy="54864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73328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Consultora grande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5751575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FEFEF"/>
                </a:solidFill>
              </a:rPr>
              <a:t>Acceso directo al experto · Precio de PyME, no de corporativo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La metodología: 4 fases · 16 sesiones · ~4 meses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2651760" cy="329184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24688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FASE 1
Planeación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10512"/>
            <a:ext cx="26517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0195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EFEF"/>
                </a:solidFill>
              </a:rPr>
              <a:t>4 sesiones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86000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¿Qué eres y
hacia dónde vas?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34840"/>
            <a:ext cx="265176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480560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</a:rPr>
              <a:t>Base
Estratégica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1" y="960120"/>
            <a:ext cx="2651760" cy="329184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051560"/>
            <a:ext cx="24688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FASE 2
Organización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4991" y="1810512"/>
            <a:ext cx="26517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90195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EFEF"/>
                </a:solidFill>
              </a:rPr>
              <a:t>4 sesiones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86000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¿Cómo operas y
quién hace qué?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64991" y="4434840"/>
            <a:ext cx="265176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8144" y="4480560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</a:rPr>
              <a:t>Manual de
Operaciones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2783" y="960120"/>
            <a:ext cx="2651760" cy="329184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1051560"/>
            <a:ext cx="24688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FASE 3
Dirección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2783" y="1810512"/>
            <a:ext cx="26517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190195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EFEF"/>
                </a:solidFill>
              </a:rPr>
              <a:t>4 sesiones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286000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¿Cómo mides
y decides?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2783" y="4434840"/>
            <a:ext cx="265176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4480560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</a:rPr>
              <a:t>Kit de
Decisiones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0576" y="960120"/>
            <a:ext cx="2651760" cy="329184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0303" y="1051560"/>
            <a:ext cx="24688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FASE 4
Control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0576" y="1810512"/>
            <a:ext cx="26517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0303" y="190195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EFEF"/>
                </a:solidFill>
              </a:rPr>
              <a:t>4 sesiones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0303" y="2286000"/>
            <a:ext cx="2468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¿Cómo creces
solo?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0576" y="4434840"/>
            <a:ext cx="265176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53728" y="4480560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0D"/>
                </a:solidFill>
              </a:rPr>
              <a:t>Playbook
Completo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EFEF"/>
                </a:solidFill>
              </a:rPr>
              <a:t>Documento integrador de cada fase  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Fase 1 — Planeación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EFEF"/>
                </a:solidFill>
              </a:rPr>
              <a:t>¿Qué eres, para quién, cuánto cuesta y hacia dónde vas?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640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Propuesta de valor + ICP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3560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Mensaje claro que no cambia según con quién hablas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051560"/>
            <a:ext cx="36576" cy="658368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097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</a:rPr>
              <a:t>→ Entregable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21991"/>
            <a:ext cx="640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134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221991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Motivador de compra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6060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Por qué te compran de verdad — no lo que asumes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221991"/>
            <a:ext cx="36576" cy="658368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26771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</a:rPr>
              <a:t>→ Entregable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92424"/>
            <a:ext cx="640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8386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</a:rPr>
              <a:t>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39242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Estructura de costos + obj. SMART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7764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Punto de equilibrio en unidades · metas con fecha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392424"/>
            <a:ext cx="36576" cy="658368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4381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</a:rPr>
              <a:t>→ Entregable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62856"/>
            <a:ext cx="640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65429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</a:rPr>
              <a:t>S4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56285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Criterios de crecimiento + BMC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9469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Cuándo y cómo escalar · síntesis visual del negocio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4562856"/>
            <a:ext cx="36576" cy="658368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6085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</a:rPr>
              <a:t>→ Entregable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15000"/>
            <a:ext cx="11247120" cy="6858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779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Documento integrador: BASE ESTRATÉGICA — propuesta de valor + ICP + costos + objetivos SMART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Fase 2 — Organización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EFEF"/>
                </a:solidFill>
              </a:rPr>
              <a:t>¿Cómo hacemos las cosas y quién es responsable de qué?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640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</a:rPr>
              <a:t>S5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Mapeo de procesos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35607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Mapa de cómo fluye el trabajo de punta a punta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21991"/>
            <a:ext cx="640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134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</a:rPr>
              <a:t>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221991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Documentación de SOPs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06039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Pasos escritos para los procesos que más afectan al cliente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92424"/>
            <a:ext cx="640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8386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</a:rPr>
              <a:t>S7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392424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Roles y 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7647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Quién es responsable de qué — sin depender de la memoria de nadie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62856"/>
            <a:ext cx="640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5429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</a:rPr>
              <a:t>S8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62856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Revisión de implementación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94690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Ajuste tras 2 semanas ejecutando en la realidad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15000"/>
            <a:ext cx="11247120" cy="6858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779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Documento integrador: MANUAL DE OPERACIONES — mapa de procesos + SOPs + roles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Fase 3 — Dirección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EFEF"/>
                </a:solidFill>
              </a:rPr>
              <a:t>¿Cómo sé si voy bien y qué hago cuando algo no va?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640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</a:rPr>
              <a:t>S9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Definición de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35607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3–5 métricas que realmente importan (no vanity metrics)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21991"/>
            <a:ext cx="640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134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</a:rPr>
              <a:t>S10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221991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Dashboard simple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06039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Google Sheet que se actualiza en 10 min/semana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92424"/>
            <a:ext cx="640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8386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</a:rPr>
              <a:t>S11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392424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Protocolo de decisiones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7647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Reglas escritas: si X baja de Y → hago 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62856"/>
            <a:ext cx="640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5429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</a:rPr>
              <a:t>S12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62856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Primera revisión con 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94690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Primera decisión tomada con datos reales — en vivo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15000"/>
            <a:ext cx="11247120" cy="6858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779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Documento integrador: KIT DE DECISIONES — dashboard + KPIs + protocolo de decisiones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Fase 4 —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EFEF"/>
                </a:solidFill>
              </a:rPr>
              <a:t>¿Cómo hago que el crecimiento se sostenga solo?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640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</a:rPr>
              <a:t>S13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Diseño del flywheel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35607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Mapa del ciclo de crecimiento propio del negocio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21991"/>
            <a:ext cx="640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134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</a:rPr>
              <a:t>S14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221991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Sistema de retención y referidos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06039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Mecanismo concreto que activa el flywheel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92424"/>
            <a:ext cx="640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8386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</a:rPr>
              <a:t>S15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392424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Criterios de escalamiento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7647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Cuándo contratar, abrir turno, subir precios — con datos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62856"/>
            <a:ext cx="640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5429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0D0D"/>
                </a:solidFill>
              </a:rPr>
              <a:t>S16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562856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Documento maestro + 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94690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Todo consolidado + hoja de ruta para el siguiente año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15000"/>
            <a:ext cx="11247120" cy="6858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7790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Documento integrador: PLAYBOOK COMPLETO — consolida las 3 fases + flywheel + roadmap 12 meses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Caso real: UMA Spa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EFEF"/>
                </a:solidFill>
              </a:rPr>
              <a:t>Primer engagement de Advanx · Fase 1 en curso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5303520" cy="438912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241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✗  Sin propuesta de valor consistente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39696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✗  Sin saber por qué le compraban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9806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✗  Precios definidos por intuición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5643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✗  Sin estructura de costos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FEFEF"/>
                </a:solidFill>
              </a:rPr>
              <a:t>✗  Sin punto de equilibrio conocido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960120"/>
            <a:ext cx="5669280" cy="438912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0241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HALLAZGOS EN 3 SESIONES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481328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  Los clientes no compran un masaje — compran
la certeza de presencia total sin prisa.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249424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  Punto de equilibrio: 34 masajes/mes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  Capacidad instalada: 96 masajes/mes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785616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  Mes típico: 27 masajes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553712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→  Brecha a rentabilidad: 7 masajes más
(&lt; 2 por semana)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5961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0D0D"/>
                </a:solidFill>
              </a:rPr>
              <a:t>El problema no es capacidad. Es visibilidad. Ese es el tipo de hallazgo que solo da la metodología.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Modelo de negocio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39312" cy="411480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363931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Diagnóstico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$25,000 MXN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FEFEF"/>
                </a:solidFill>
              </a:rPr>
              <a:t>2–3 semanas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0779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EFEF"/>
                </a:solidFill>
              </a:rPr>
              <a:t>Entrada de bajo compromiso. El cliente ve el mapa antes de comprometerse.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960120"/>
            <a:ext cx="3639312" cy="411480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960120"/>
            <a:ext cx="363931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0515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Sprint 1 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7830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$22,000 MXN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423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FEFEF"/>
                </a:solidFill>
              </a:rPr>
              <a:t>4 semanas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90779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EFEF"/>
                </a:solidFill>
              </a:rPr>
              <a:t>1 proceso automatizado de punta a punta. Para quien quiere ver resultados rápido.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84464" y="960120"/>
            <a:ext cx="3639312" cy="411480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960120"/>
            <a:ext cx="363931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10515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Acompañamiento
3 meses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17830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$18,000/mes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423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FEFEF"/>
                </a:solidFill>
              </a:rPr>
              <a:t>12 semanas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907792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FEFEF"/>
                </a:solidFill>
              </a:rPr>
              <a:t>El engagement completo. 1 cliente activo cubre la meta mínima de ingreso.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57800"/>
            <a:ext cx="11247120" cy="50292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303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Gancho: si el cliente contrata acompañamiento justo después del diagnóstico → $10,000 de crédito.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1 cliente en acompañamiento = $18,000/mes = meta mínima cubierta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Por qué el momento es ahora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3291840" cy="219456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1430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B4D8"/>
                </a:solidFill>
              </a:rPr>
              <a:t>7.7%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148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crecimiento anual
de consultoría PyME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05840"/>
            <a:ext cx="3291840" cy="219456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1430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B4D8"/>
                </a:solidFill>
              </a:rPr>
              <a:t>12.8%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148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crecimiento anual
de consultoría tecnológica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05840"/>
            <a:ext cx="3291840" cy="219456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1430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B4D8"/>
                </a:solidFill>
              </a:rPr>
              <a:t>76%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148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de PyMEs mexicanas
aún sin digitalizar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29000"/>
            <a:ext cx="11247120" cy="1371600"/>
          </a:xfrm>
          <a:prstGeom prst="rect">
            <a:avLst/>
          </a:prstGeom>
          <a:solidFill>
            <a:srgbClr val="2B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930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El espacio integrado en el Valle de Toluca está vacío.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23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EFEF"/>
                </a:solidFill>
              </a:rPr>
              <a:t>Nadie combina las 4 dimensiones: procesos + personas + datos + IA con presencia local.
Los competidores atacan cada eje por separado. El espacio integrado no tiene dueño.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83480"/>
            <a:ext cx="1124712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074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0D0D"/>
                </a:solidFill>
              </a:rPr>
              <a:t>La demanda existe. El mercado es inmaduro.
Quien llega primero con metodología probada define el estándar.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Por qué nosotros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7315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Caso real validado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EFEF"/>
                </a:solidFill>
              </a:rPr>
              <a:t>UMA Spa — metodología ejecutada en campo, no diseñada en papel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7315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Sin intermediarios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EFEF"/>
                </a:solidFill>
              </a:rPr>
              <a:t>El cliente habla directo con quien implementa y entrega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20440"/>
            <a:ext cx="7315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20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Enfoque correcto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EFEF"/>
                </a:solidFill>
              </a:rPr>
              <a:t>Primero ordenamos, luego automatizamos — no se automatiza el caos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73152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754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B4D8"/>
                </a:solidFill>
              </a:rPr>
              <a:t>Precio justo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66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FEFEF"/>
                </a:solidFill>
              </a:rPr>
              <a:t>Precio de PyME, velocidad de startup, calidad de consultoría senior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La conversación que necesitamos tener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7007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0D0D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261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¿Qué capacidades traes tú que complementan las mías?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82296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4144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0D0D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9631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¿Cómo dividimos roles dentro de un engagement con un cliente?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7588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0D0D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7307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¿Cuál sería el primer cliente que abordaríamos juntos?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00600"/>
            <a:ext cx="82296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91032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0D0D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9651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¿Qué necesitas ver o entender antes de comprometerte?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035040"/>
            <a:ext cx="11247120" cy="59436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1081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Advanx · Ordena. Mide.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