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3246120"/>
            <a:ext cx="11987784" cy="4572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 i="0">
                <a:solidFill>
                  <a:srgbClr val="1E2A1A"/>
                </a:solidFill>
              </a:rPr>
              <a:t>ADVANX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4A7C59"/>
                </a:solidFill>
              </a:rPr>
              <a:t>Ordena.  Mide.  Escala.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290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1E2A1A"/>
                </a:solidFill>
              </a:rPr>
              <a:t>"Las PyMEs en Mexico no mueren por falta de clientes.
Mueren porque no pueden con los que ya tienen."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636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7C59"/>
                </a:solidFill>
              </a:rPr>
              <a:t>El Gremio Advanx  ·  Sesion de alineacion  ·  Junio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4A843"/>
                </a:solidFill>
              </a:rPr>
              <a:t>El problema que resolvemos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73152" cy="777240"/>
          </a:xfrm>
          <a:prstGeom prst="rect">
            <a:avLst/>
          </a:prstGeom>
          <a:solidFill>
            <a:srgbClr val="E88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097280"/>
            <a:ext cx="10881360" cy="777240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6187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E2A1A"/>
                </a:solidFill>
              </a:rPr>
              <a:t>No sabe que hay en inventario sin preguntarle a alguien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67712"/>
            <a:ext cx="73152" cy="777240"/>
          </a:xfrm>
          <a:prstGeom prst="rect">
            <a:avLst/>
          </a:prstGeom>
          <a:solidFill>
            <a:srgbClr val="E88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267712"/>
            <a:ext cx="10881360" cy="777240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43230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E2A1A"/>
                </a:solidFill>
              </a:rPr>
              <a:t>Un reporte le toma 2 horas hacerlo a mano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438144"/>
            <a:ext cx="73152" cy="777240"/>
          </a:xfrm>
          <a:prstGeom prst="rect">
            <a:avLst/>
          </a:prstGeom>
          <a:solidFill>
            <a:srgbClr val="E88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438144"/>
            <a:ext cx="10881360" cy="777240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60273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E2A1A"/>
                </a:solidFill>
              </a:rPr>
              <a:t>Cuando un empleado clave se va, el conocimiento se va con 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608576"/>
            <a:ext cx="73152" cy="777240"/>
          </a:xfrm>
          <a:prstGeom prst="rect">
            <a:avLst/>
          </a:prstGeom>
          <a:solidFill>
            <a:srgbClr val="E88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608576"/>
            <a:ext cx="10881360" cy="777240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77316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E2A1A"/>
                </a:solidFill>
              </a:rPr>
              <a:t>Las decisiones se toman por intuicion, no por datos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742432"/>
            <a:ext cx="11247120" cy="658368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81558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4A843"/>
                </a:solidFill>
              </a:rPr>
              <a:t>Sintoma visible: alguien tiene como trabajo principal actualizar un Excel todos los dias.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4A843"/>
                </a:solidFill>
              </a:rPr>
              <a:t>El Fundador ideal  —  a quien guiamos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78992"/>
            <a:ext cx="2560320" cy="6858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07007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4A843"/>
                </a:solidFill>
              </a:rPr>
              <a:t>Tamano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0" y="1078992"/>
            <a:ext cx="8686800" cy="685800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46120" y="1207007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A1A"/>
                </a:solidFill>
              </a:rPr>
              <a:t>20 a 80 empleados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84832"/>
            <a:ext cx="2560320" cy="6858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212848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4A843"/>
                </a:solidFill>
              </a:rPr>
              <a:t>Industrias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0" y="2084832"/>
            <a:ext cx="8686800" cy="685800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2212848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A1A"/>
                </a:solidFill>
              </a:rPr>
              <a:t>Manufactura  ·  Distribucion  ·  Alimentos  ·  Servicios con operacion fisica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90672"/>
            <a:ext cx="2560320" cy="6858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18688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4A843"/>
                </a:solidFill>
              </a:rPr>
              <a:t>Sintoma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0" y="3090672"/>
            <a:ext cx="8686800" cy="685800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3218688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A1A"/>
                </a:solidFill>
              </a:rPr>
              <a:t>Alguien actualiza Excel a diario como su trabajo principal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96512"/>
            <a:ext cx="2560320" cy="6858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4224528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4A843"/>
                </a:solidFill>
              </a:rPr>
              <a:t>Dolor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08960" y="4096512"/>
            <a:ext cx="8686800" cy="685800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46120" y="4224528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A1A"/>
                </a:solidFill>
              </a:rPr>
              <a:t>"No se que pasa en mi negocio sin preguntarle a alguien"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102352"/>
            <a:ext cx="2560320" cy="6858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230368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4A843"/>
                </a:solidFill>
              </a:rPr>
              <a:t>Filtro clave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08960" y="5102352"/>
            <a:ext cx="8686800" cy="685800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46120" y="5230368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A1A"/>
                </a:solidFill>
              </a:rPr>
              <a:t>No puedo con los clientes que tengo  -&gt;  SI es nuestro Fundador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4A843"/>
                </a:solidFill>
              </a:rPr>
              <a:t>Advanx  —  El Gremio que guia expediciones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1E2A1A"/>
                </a:solidFill>
              </a:rPr>
              <a:t>Diagnostica, ordena y automatiza los procesos clave de una PyME
para que pueda crecer con datos reales.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29968"/>
            <a:ext cx="11247120" cy="96012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10312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2A1A"/>
                </a:solidFill>
              </a:rPr>
              <a:t>El diferenciador: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23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E2A1A"/>
                </a:solidFill>
              </a:rPr>
              <a:t>No hacemos reportes. Construimos sistemas.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15468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7C59"/>
                </a:solidFill>
              </a:rPr>
              <a:t>Versus las alternativas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547872"/>
            <a:ext cx="2834640" cy="530352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639312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A843"/>
                </a:solidFill>
              </a:rPr>
              <a:t>Contratar TI interno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3657600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A1A"/>
                </a:solidFill>
              </a:rPr>
              <a:t>Advanx trae metodo + ejecucion, no solo el recurso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42816"/>
            <a:ext cx="2834640" cy="530352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334255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A843"/>
                </a:solidFill>
              </a:rPr>
              <a:t>Implementar un ERP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568" y="4352544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A1A"/>
                </a:solidFill>
              </a:rPr>
              <a:t>Primero ordenamos el proceso, luego lo digitalizamos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937760"/>
            <a:ext cx="2834640" cy="530352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0292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A843"/>
                </a:solidFill>
              </a:rPr>
              <a:t>Seguir con Excel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1568" y="5047488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A1A"/>
                </a:solidFill>
              </a:rPr>
              <a:t>El costo de la ineficiencia ya supero el costo del cambio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632704"/>
            <a:ext cx="2834640" cy="530352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5724144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A843"/>
                </a:solidFill>
              </a:rPr>
              <a:t>Consultora grande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01568" y="574243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A1A"/>
                </a:solidFill>
              </a:rPr>
              <a:t>Acceso directo al experto  ·  Precio de PyME, no de corporativo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4A843"/>
                </a:solidFill>
              </a:rPr>
              <a:t>La Expedicion  —  4 Capitulos  ·  16 Misiones  ·  ~4 meses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24128"/>
            <a:ext cx="2633472" cy="3858768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024128"/>
            <a:ext cx="2633472" cy="4572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1097280"/>
            <a:ext cx="24505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4A7C59"/>
                </a:solidFill>
              </a:rPr>
              <a:t>CAP. 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44752"/>
            <a:ext cx="246887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A1A"/>
                </a:solidFill>
              </a:rPr>
              <a:t>El Horizonte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2121408"/>
            <a:ext cx="2267712" cy="36576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212848"/>
            <a:ext cx="24688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A7C59"/>
                </a:solidFill>
              </a:rPr>
              <a:t>16 misiones / 4 por capitulo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96896"/>
            <a:ext cx="2468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1E2A1A"/>
                </a:solidFill>
              </a:rPr>
              <a:t>Que eres y hacia
donde 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2651760"/>
            <a:ext cx="28346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4A843"/>
                </a:solidFill>
              </a:rPr>
              <a:t>-&gt;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4974336"/>
            <a:ext cx="2633472" cy="64008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" y="5029200"/>
            <a:ext cx="25054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El Pergamino
del Fundador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82696" y="1024128"/>
            <a:ext cx="2633472" cy="3858768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82696" y="1024128"/>
            <a:ext cx="2633472" cy="45720"/>
          </a:xfrm>
          <a:prstGeom prst="rect">
            <a:avLst/>
          </a:prstGeom>
          <a:solidFill>
            <a:srgbClr val="E88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92424" y="1097280"/>
            <a:ext cx="24505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836A"/>
                </a:solidFill>
              </a:rPr>
              <a:t>CAP. II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74136" y="1444752"/>
            <a:ext cx="246887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A1A"/>
                </a:solidFill>
              </a:rPr>
              <a:t>La Fortaleza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65576" y="2121408"/>
            <a:ext cx="2267712" cy="36576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74136" y="2212848"/>
            <a:ext cx="24688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A7C59"/>
                </a:solidFill>
              </a:rPr>
              <a:t>16 misiones / 4 por capitulo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74136" y="2596896"/>
            <a:ext cx="2468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1E2A1A"/>
                </a:solidFill>
              </a:rPr>
              <a:t>Como operas y
quien hace 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34455" y="2651760"/>
            <a:ext cx="28346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4A843"/>
                </a:solidFill>
              </a:rPr>
              <a:t>-&gt;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82696" y="4974336"/>
            <a:ext cx="2633472" cy="640080"/>
          </a:xfrm>
          <a:prstGeom prst="rect">
            <a:avLst/>
          </a:prstGeom>
          <a:solidFill>
            <a:srgbClr val="E88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55848" y="5029200"/>
            <a:ext cx="25054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2A1A"/>
                </a:solidFill>
              </a:rPr>
              <a:t>El Grimorio de
Operaciones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53912" y="1024128"/>
            <a:ext cx="2633472" cy="3858768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3912" y="1024128"/>
            <a:ext cx="2633472" cy="4572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1097280"/>
            <a:ext cx="24505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4A7C59"/>
                </a:solidFill>
              </a:rPr>
              <a:t>CAP. III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5351" y="1444752"/>
            <a:ext cx="246887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A1A"/>
                </a:solidFill>
              </a:rPr>
              <a:t>La Brujula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36792" y="2121408"/>
            <a:ext cx="2267712" cy="36576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45351" y="2212848"/>
            <a:ext cx="24688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A7C59"/>
                </a:solidFill>
              </a:rPr>
              <a:t>16 misiones / 4 por capitulo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45351" y="2596896"/>
            <a:ext cx="2468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1E2A1A"/>
                </a:solidFill>
              </a:rPr>
              <a:t>Como mides
y decides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05672" y="2651760"/>
            <a:ext cx="28346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4A843"/>
                </a:solidFill>
              </a:rPr>
              <a:t>-&gt;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53912" y="4974336"/>
            <a:ext cx="2633472" cy="64008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27064" y="5029200"/>
            <a:ext cx="25054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El Mapa
del Mando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25127" y="1024128"/>
            <a:ext cx="2633472" cy="3858768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25127" y="1024128"/>
            <a:ext cx="2633472" cy="45720"/>
          </a:xfrm>
          <a:prstGeom prst="rect">
            <a:avLst/>
          </a:prstGeom>
          <a:solidFill>
            <a:srgbClr val="E88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34855" y="1097280"/>
            <a:ext cx="24505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836A"/>
                </a:solidFill>
              </a:rPr>
              <a:t>CAP. IV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16567" y="1444752"/>
            <a:ext cx="246887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A1A"/>
                </a:solidFill>
              </a:rPr>
              <a:t>El Legado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08007" y="2121408"/>
            <a:ext cx="2267712" cy="36576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16567" y="2212848"/>
            <a:ext cx="24688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A7C59"/>
                </a:solidFill>
              </a:rPr>
              <a:t>16 misiones / 4 por capitulo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16567" y="2596896"/>
            <a:ext cx="2468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1E2A1A"/>
                </a:solidFill>
              </a:rPr>
              <a:t>Como creces
solo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25127" y="4974336"/>
            <a:ext cx="2633472" cy="640080"/>
          </a:xfrm>
          <a:prstGeom prst="rect">
            <a:avLst/>
          </a:prstGeom>
          <a:solidFill>
            <a:srgbClr val="E88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98279" y="5029200"/>
            <a:ext cx="25054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2A1A"/>
                </a:solidFill>
              </a:rPr>
              <a:t>El Codice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565099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A7C59"/>
                </a:solidFill>
              </a:rPr>
              <a:t>Artefacto que se gana al cerrar cada capitulo  v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4A843"/>
                </a:solidFill>
              </a:rPr>
              <a:t>Capitulo I  —  El Horizonte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DE0C8"/>
                </a:solidFill>
              </a:rPr>
              <a:t>Que eres, para quien, cuanto cuesta y hacia donde vas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0" y="73152"/>
            <a:ext cx="2926080" cy="384048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0" y="109728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E2A1A"/>
                </a:solidFill>
              </a:rPr>
              <a:t>CAP. I — EL HORIZONTE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78992"/>
            <a:ext cx="658368" cy="658368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88719"/>
            <a:ext cx="6583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D4A843"/>
                </a:solidFill>
              </a:rPr>
              <a:t>M1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07008" y="1078992"/>
            <a:ext cx="10058400" cy="658368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1115568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2A1A"/>
                </a:solidFill>
              </a:rPr>
              <a:t>Propuesta de valor + ICP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" y="1444752"/>
            <a:ext cx="9784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A7C59"/>
                </a:solidFill>
              </a:rPr>
              <a:t>Mensaje claro que no cambia segun con quien hablas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267712"/>
            <a:ext cx="658368" cy="658368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377440"/>
            <a:ext cx="6583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D4A843"/>
                </a:solidFill>
              </a:rPr>
              <a:t>M2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07008" y="2267712"/>
            <a:ext cx="10058400" cy="658368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53312" y="2304288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2A1A"/>
                </a:solidFill>
              </a:rPr>
              <a:t>Motivador de compra real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2633472"/>
            <a:ext cx="9784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A7C59"/>
                </a:solidFill>
              </a:rPr>
              <a:t>Por que te compran de verdad — no lo que asumes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456432"/>
            <a:ext cx="658368" cy="658368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566160"/>
            <a:ext cx="6583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D4A843"/>
                </a:solidFill>
              </a:rPr>
              <a:t>M3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07008" y="3456432"/>
            <a:ext cx="10058400" cy="658368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53312" y="3493008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2A1A"/>
                </a:solidFill>
              </a:rPr>
              <a:t>Estructura de costos + obj. SMART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3312" y="3822192"/>
            <a:ext cx="9784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A7C59"/>
                </a:solidFill>
              </a:rPr>
              <a:t>Punto de equilibrio en unidades  ·  metas con fecha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658368" cy="658368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754880"/>
            <a:ext cx="6583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D4A843"/>
                </a:solidFill>
              </a:rPr>
              <a:t>M4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07008" y="4645152"/>
            <a:ext cx="10058400" cy="658368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53312" y="4681728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2A1A"/>
                </a:solidFill>
              </a:rPr>
              <a:t>Criterios de crecimiento + BMC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53312" y="5010912"/>
            <a:ext cx="9784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A7C59"/>
                </a:solidFill>
              </a:rPr>
              <a:t>Cuando y como escalar  ·  sintesis visual del negocio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760720"/>
            <a:ext cx="11247120" cy="658368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833872"/>
            <a:ext cx="109728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2A1A"/>
                </a:solidFill>
              </a:rPr>
              <a:t>Artefacto: EL PERGAMINO DEL FUNDADOR  —  propuesta de valor + ICP + costos + objetivos SMART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4A843"/>
                </a:solidFill>
              </a:rPr>
              <a:t>Capitulo II  —  La Fortaleza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DE0C8"/>
                </a:solidFill>
              </a:rPr>
              <a:t>Como hacemos las cosas y quien es responsable de que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03920" y="73152"/>
            <a:ext cx="2926080" cy="384048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0" y="109728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E2A1A"/>
                </a:solidFill>
              </a:rPr>
              <a:t>CAP. II — LA FORTALEZA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78992"/>
            <a:ext cx="658368" cy="658368"/>
          </a:xfrm>
          <a:prstGeom prst="rect">
            <a:avLst/>
          </a:prstGeom>
          <a:solidFill>
            <a:srgbClr val="E88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88719"/>
            <a:ext cx="6583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E2A1A"/>
                </a:solidFill>
              </a:rPr>
              <a:t>M5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07008" y="1078992"/>
            <a:ext cx="10058400" cy="658368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1115568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2A1A"/>
                </a:solidFill>
              </a:rPr>
              <a:t>Mapeo de procesos clave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" y="1444752"/>
            <a:ext cx="9784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A7C59"/>
                </a:solidFill>
              </a:rPr>
              <a:t>Mapa de como fluye el trabajo de punta a punta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267712"/>
            <a:ext cx="658368" cy="658368"/>
          </a:xfrm>
          <a:prstGeom prst="rect">
            <a:avLst/>
          </a:prstGeom>
          <a:solidFill>
            <a:srgbClr val="E88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377440"/>
            <a:ext cx="6583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E2A1A"/>
                </a:solidFill>
              </a:rPr>
              <a:t>M6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07008" y="2267712"/>
            <a:ext cx="10058400" cy="658368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53312" y="2304288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2A1A"/>
                </a:solidFill>
              </a:rPr>
              <a:t>Documentacion de SOPs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2633472"/>
            <a:ext cx="9784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A7C59"/>
                </a:solidFill>
              </a:rPr>
              <a:t>Pasos escritos para los procesos que mas afectan al cliente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456432"/>
            <a:ext cx="658368" cy="658368"/>
          </a:xfrm>
          <a:prstGeom prst="rect">
            <a:avLst/>
          </a:prstGeom>
          <a:solidFill>
            <a:srgbClr val="E88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566160"/>
            <a:ext cx="6583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E2A1A"/>
                </a:solidFill>
              </a:rPr>
              <a:t>M7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07008" y="3456432"/>
            <a:ext cx="10058400" cy="658368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53312" y="3493008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2A1A"/>
                </a:solidFill>
              </a:rPr>
              <a:t>Roles y accountability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3312" y="3822192"/>
            <a:ext cx="9784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A7C59"/>
                </a:solidFill>
              </a:rPr>
              <a:t>Quien es responsable de que — sin depender de la memoria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658368" cy="658368"/>
          </a:xfrm>
          <a:prstGeom prst="rect">
            <a:avLst/>
          </a:prstGeom>
          <a:solidFill>
            <a:srgbClr val="E88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754880"/>
            <a:ext cx="6583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E2A1A"/>
                </a:solidFill>
              </a:rPr>
              <a:t>M8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07008" y="4645152"/>
            <a:ext cx="10058400" cy="658368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53312" y="4681728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2A1A"/>
                </a:solidFill>
              </a:rPr>
              <a:t>Revision de implementacion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53312" y="5010912"/>
            <a:ext cx="9784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A7C59"/>
                </a:solidFill>
              </a:rPr>
              <a:t>Ajuste real tras 2 semanas ejecutando en campo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760720"/>
            <a:ext cx="11247120" cy="658368"/>
          </a:xfrm>
          <a:prstGeom prst="rect">
            <a:avLst/>
          </a:prstGeom>
          <a:solidFill>
            <a:srgbClr val="E88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833872"/>
            <a:ext cx="109728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2A1A"/>
                </a:solidFill>
              </a:rPr>
              <a:t>Artefacto: EL GRIMORIO DE OPERACIONES  —  mapa de procesos + SOPs + roles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4A843"/>
                </a:solidFill>
              </a:rPr>
              <a:t>Capitulo III  —  La Brujula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DE0C8"/>
                </a:solidFill>
              </a:rPr>
              <a:t>Como se si voy bien y que hago cuando algo no va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95360" y="73152"/>
            <a:ext cx="2926080" cy="384048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0" y="109728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E2A1A"/>
                </a:solidFill>
              </a:rPr>
              <a:t>CAP. III — LA BRUJULA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78992"/>
            <a:ext cx="658368" cy="658368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88719"/>
            <a:ext cx="6583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D4A843"/>
                </a:solidFill>
              </a:rPr>
              <a:t>M9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07008" y="1078992"/>
            <a:ext cx="10058400" cy="658368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1115568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2A1A"/>
                </a:solidFill>
              </a:rPr>
              <a:t>Definicion de KPIs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" y="1444752"/>
            <a:ext cx="9784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A7C59"/>
                </a:solidFill>
              </a:rPr>
              <a:t>3 a 5 metricas que realmente importan (no vanity metrics)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267712"/>
            <a:ext cx="658368" cy="658368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377440"/>
            <a:ext cx="6583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D4A843"/>
                </a:solidFill>
              </a:rPr>
              <a:t>M10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07008" y="2267712"/>
            <a:ext cx="10058400" cy="658368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53312" y="2304288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2A1A"/>
                </a:solidFill>
              </a:rPr>
              <a:t>Dashboard simple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2633472"/>
            <a:ext cx="9784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A7C59"/>
                </a:solidFill>
              </a:rPr>
              <a:t>Google Sheet que se actualiza en 10 min por semana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456432"/>
            <a:ext cx="658368" cy="658368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566160"/>
            <a:ext cx="6583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D4A843"/>
                </a:solidFill>
              </a:rPr>
              <a:t>M11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07008" y="3456432"/>
            <a:ext cx="10058400" cy="658368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53312" y="3493008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2A1A"/>
                </a:solidFill>
              </a:rPr>
              <a:t>Protocolo de decisiones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3312" y="3822192"/>
            <a:ext cx="9784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A7C59"/>
                </a:solidFill>
              </a:rPr>
              <a:t>Reglas escritas: si X baja de Y -&gt; hago Z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658368" cy="658368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754880"/>
            <a:ext cx="6583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D4A843"/>
                </a:solidFill>
              </a:rPr>
              <a:t>M12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07008" y="4645152"/>
            <a:ext cx="10058400" cy="658368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53312" y="4681728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2A1A"/>
                </a:solidFill>
              </a:rPr>
              <a:t>Primera revision con datos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53312" y="5010912"/>
            <a:ext cx="9784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A7C59"/>
                </a:solidFill>
              </a:rPr>
              <a:t>Primera decision tomada con datos reales — en vivo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760720"/>
            <a:ext cx="11247120" cy="658368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833872"/>
            <a:ext cx="109728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2A1A"/>
                </a:solidFill>
              </a:rPr>
              <a:t>Artefacto: EL MAPA DEL MANDO  —  dashboard + KPIs + protocolo de decisiones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4A843"/>
                </a:solidFill>
              </a:rPr>
              <a:t>Capitulo IV  —  El Legado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DE0C8"/>
                </a:solidFill>
              </a:rPr>
              <a:t>Como hago que el crecimiento se sostenga solo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0" y="73152"/>
            <a:ext cx="2926080" cy="384048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0" y="109728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E2A1A"/>
                </a:solidFill>
              </a:rPr>
              <a:t>CAP. IV — EL LEGADO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78992"/>
            <a:ext cx="658368" cy="658368"/>
          </a:xfrm>
          <a:prstGeom prst="rect">
            <a:avLst/>
          </a:prstGeom>
          <a:solidFill>
            <a:srgbClr val="E88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88719"/>
            <a:ext cx="6583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E2A1A"/>
                </a:solidFill>
              </a:rPr>
              <a:t>M13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07008" y="1078992"/>
            <a:ext cx="10058400" cy="658368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1115568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2A1A"/>
                </a:solidFill>
              </a:rPr>
              <a:t>Diseno del flywheel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" y="1444752"/>
            <a:ext cx="9784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A7C59"/>
                </a:solidFill>
              </a:rPr>
              <a:t>Mapa del ciclo de crecimiento propio del negocio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267712"/>
            <a:ext cx="658368" cy="658368"/>
          </a:xfrm>
          <a:prstGeom prst="rect">
            <a:avLst/>
          </a:prstGeom>
          <a:solidFill>
            <a:srgbClr val="E88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377440"/>
            <a:ext cx="6583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E2A1A"/>
                </a:solidFill>
              </a:rPr>
              <a:t>M14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07008" y="2267712"/>
            <a:ext cx="10058400" cy="658368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53312" y="2304288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2A1A"/>
                </a:solidFill>
              </a:rPr>
              <a:t>Sistema de retencion y referidos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2633472"/>
            <a:ext cx="9784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A7C59"/>
                </a:solidFill>
              </a:rPr>
              <a:t>Mecanismo concreto que activa el flywheel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456432"/>
            <a:ext cx="658368" cy="658368"/>
          </a:xfrm>
          <a:prstGeom prst="rect">
            <a:avLst/>
          </a:prstGeom>
          <a:solidFill>
            <a:srgbClr val="E88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566160"/>
            <a:ext cx="6583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E2A1A"/>
                </a:solidFill>
              </a:rPr>
              <a:t>M15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07008" y="3456432"/>
            <a:ext cx="10058400" cy="658368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53312" y="3493008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2A1A"/>
                </a:solidFill>
              </a:rPr>
              <a:t>Criterios de escalamiento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3312" y="3822192"/>
            <a:ext cx="9784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A7C59"/>
                </a:solidFill>
              </a:rPr>
              <a:t>Cuando contratar, abrir turno, subir precios — con datos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658368" cy="658368"/>
          </a:xfrm>
          <a:prstGeom prst="rect">
            <a:avLst/>
          </a:prstGeom>
          <a:solidFill>
            <a:srgbClr val="E88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754880"/>
            <a:ext cx="6583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E2A1A"/>
                </a:solidFill>
              </a:rPr>
              <a:t>M16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07008" y="4645152"/>
            <a:ext cx="10058400" cy="658368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53312" y="4681728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2A1A"/>
                </a:solidFill>
              </a:rPr>
              <a:t>Documento maestro + roadmap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53312" y="5010912"/>
            <a:ext cx="9784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A7C59"/>
                </a:solidFill>
              </a:rPr>
              <a:t>Todo consolidado + hoja de ruta para el siguiente ano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760720"/>
            <a:ext cx="11247120" cy="658368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833872"/>
            <a:ext cx="109728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4A843"/>
                </a:solidFill>
              </a:rPr>
              <a:t>Artefacto: EL CODICE  —  consolida los 3 artefactos anteriores + flywheel + roadmap 12 meses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4A843"/>
                </a:solidFill>
              </a:rPr>
              <a:t>Primera Expedicion: UMA 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DE0C8"/>
                </a:solidFill>
              </a:rPr>
              <a:t>Capitulo I en curso — 3 de 4 misiones completadas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24128"/>
            <a:ext cx="5394960" cy="4572000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09728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8836A"/>
                </a:solidFill>
              </a:rPr>
              <a:t>ANTES DE ADVANX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572768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A1A"/>
                </a:solidFill>
              </a:rPr>
              <a:t>x   Sin propuesta de valor consistente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231136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A1A"/>
                </a:solidFill>
              </a:rPr>
              <a:t>x   Sin saber por que le compraban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889504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A1A"/>
                </a:solidFill>
              </a:rPr>
              <a:t>x   Precios definidos por intuicion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54787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A1A"/>
                </a:solidFill>
              </a:rPr>
              <a:t>x   Sin estructura de costos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2062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A1A"/>
                </a:solidFill>
              </a:rPr>
              <a:t>x   Sin punto de equilibrio conocido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1024128"/>
            <a:ext cx="5669280" cy="45720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109728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4A843"/>
                </a:solidFill>
              </a:rPr>
              <a:t>HALLAZGOS EN 3 MISIONES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1572768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-&gt;  No compran un masaje — compran la
certeza de presencia total sin prisa.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9632" y="2340864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-&gt;  Punto de equilibrio: 34 masajes/mes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9632" y="310896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-&gt;  Capacidad instalada: 96 masajes/mes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2" y="3877056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-&gt;  Mes tipico actual: 27 masajes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9632" y="4645152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-&gt;  Brecha a rentabilidad: 7 masajes mas
(menos de 2 por semana)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15000"/>
            <a:ext cx="11247120" cy="749808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577900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E2A1A"/>
                </a:solidFill>
              </a:rPr>
              <a:t>El problema no era capacidad. Era visibilidad.
Eso es lo que solo da la metodologia.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4A843"/>
                </a:solidFill>
              </a:rPr>
              <a:t>Como se paga la Expedicion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3639312" cy="4206240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3639312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15568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A1A"/>
                </a:solidFill>
              </a:rPr>
              <a:t>Diagnostico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4A7C59"/>
                </a:solidFill>
              </a:rPr>
              <a:t>$25,000 MXN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4203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A7C59"/>
                </a:solidFill>
              </a:rPr>
              <a:t>2 a 3 semanas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999232"/>
            <a:ext cx="3337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E2A1A"/>
                </a:solidFill>
              </a:rPr>
              <a:t>El Fundador ve el mapa completo antes de comprometerse.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70832" y="1005840"/>
            <a:ext cx="3639312" cy="4206240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0832" y="1005840"/>
            <a:ext cx="3639312" cy="54864"/>
          </a:xfrm>
          <a:prstGeom prst="rect">
            <a:avLst/>
          </a:prstGeom>
          <a:solidFill>
            <a:srgbClr val="E88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115568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A1A"/>
                </a:solidFill>
              </a:rPr>
              <a:t>Sprint 1 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1828800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E8836A"/>
                </a:solidFill>
              </a:rPr>
              <a:t>$22,000 MXN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2272" y="254203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A7C59"/>
                </a:solidFill>
              </a:rPr>
              <a:t>4 semanas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2999232"/>
            <a:ext cx="3337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E2A1A"/>
                </a:solidFill>
              </a:rPr>
              <a:t>1 proceso automatizado de punta a punta. Resultados rapidos.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84464" y="1005840"/>
            <a:ext cx="3639312" cy="4206240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4464" y="1005840"/>
            <a:ext cx="3639312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21624" y="1115568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A1A"/>
                </a:solidFill>
              </a:rPr>
              <a:t>Acompanamiento
3 meses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5904" y="1828800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4A7C59"/>
                </a:solidFill>
              </a:rPr>
              <a:t>$18,000/mes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5904" y="254203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A7C59"/>
                </a:solidFill>
              </a:rPr>
              <a:t>12 semanas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49056" y="2999232"/>
            <a:ext cx="3337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E2A1A"/>
                </a:solidFill>
              </a:rPr>
              <a:t>La Expedicion completa. 1 Fundador activo cubre la meta.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376672"/>
            <a:ext cx="11247120" cy="475488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5449824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D4A843"/>
                </a:solidFill>
              </a:rPr>
              <a:t>Gancho: si el Fundador contrata acompanamiento tras el diagnostico -&gt; $10,000 de credito.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961888"/>
            <a:ext cx="112471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4A7C59"/>
                </a:solidFill>
              </a:rPr>
              <a:t>1 Fundador en acompanamiento = $18,000/mes = meta minima cubierta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4A843"/>
                </a:solidFill>
              </a:rPr>
              <a:t>Por que el momento es ahora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005840"/>
            <a:ext cx="3383280" cy="2286000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005840"/>
            <a:ext cx="3383280" cy="54864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115568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4A7C59"/>
                </a:solidFill>
              </a:rPr>
              <a:t>7.7%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1E2A1A"/>
                </a:solidFill>
              </a:rPr>
              <a:t>crecimiento anual
consultoria PyME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005840"/>
            <a:ext cx="3383280" cy="2286000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005840"/>
            <a:ext cx="3383280" cy="54864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115568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4A7C59"/>
                </a:solidFill>
              </a:rPr>
              <a:t>12.8%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1488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1E2A1A"/>
                </a:solidFill>
              </a:rPr>
              <a:t>crecimiento anual
consultoria tecnologica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005840"/>
            <a:ext cx="3383280" cy="2286000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005840"/>
            <a:ext cx="3383280" cy="54864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115568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4A7C59"/>
                </a:solidFill>
              </a:rPr>
              <a:t>76%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1488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1E2A1A"/>
                </a:solidFill>
              </a:rPr>
              <a:t>de PyMEs mexicanas
aun sin digitalizar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93008"/>
            <a:ext cx="11247120" cy="1389888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3566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D4A843"/>
                </a:solidFill>
              </a:rPr>
              <a:t>El espacio integrado en el Valle de Toluca esta vacio.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069080"/>
            <a:ext cx="109728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Nadie combina procesos + personas + datos + IA con presencia local. Los competidores atacan cada eje por separado.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010912"/>
            <a:ext cx="11247120" cy="1444752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51206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E2A1A"/>
                </a:solidFill>
              </a:rPr>
              <a:t>La demanda existe. El mercado es inmaduro.
Quien llega primero con metodologia probada define el estandar.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4A843"/>
                </a:solidFill>
              </a:rPr>
              <a:t>Por que El Gremio Advanx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91440" cy="96012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097280"/>
            <a:ext cx="11064240" cy="960120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18872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4A7C59"/>
                </a:solidFill>
              </a:rPr>
              <a:t>Expedicion real validada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6002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E2A1A"/>
                </a:solidFill>
              </a:rPr>
              <a:t>UMA Spa — metodologia ejecutada en campo, no disenada en papel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77439"/>
            <a:ext cx="91440" cy="96012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2377439"/>
            <a:ext cx="11064240" cy="960120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468879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4A7C59"/>
                </a:solidFill>
              </a:rPr>
              <a:t>Sin intermediarios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880359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E2A1A"/>
                </a:solidFill>
              </a:rPr>
              <a:t>El Fundador habla directo con quien implementa y entrega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57600"/>
            <a:ext cx="91440" cy="96012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657600"/>
            <a:ext cx="11064240" cy="960120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749039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4A7C59"/>
                </a:solidFill>
              </a:rPr>
              <a:t>Enfoque correcto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16052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E2A1A"/>
                </a:solidFill>
              </a:rPr>
              <a:t>Primero ordenamos, luego automatizamos — no se automatiza el caos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937759"/>
            <a:ext cx="91440" cy="96012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937759"/>
            <a:ext cx="11064240" cy="960120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029199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4A7C59"/>
                </a:solidFill>
              </a:rPr>
              <a:t>Experiencia unica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5440679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E2A1A"/>
                </a:solidFill>
              </a:rPr>
              <a:t>La unica consultoria que convierte el crecimiento en una aventura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4A843"/>
                </a:solidFill>
              </a:rPr>
              <a:t>La conversacion que necesitamos tener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914400" cy="9144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914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D4A843"/>
                </a:solidFill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481328" y="1097280"/>
            <a:ext cx="10241280" cy="914400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1335024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E2A1A"/>
                </a:solidFill>
              </a:rPr>
              <a:t>Que capacidades traes tu que complementan las mias?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95728"/>
            <a:ext cx="914400" cy="9144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542032"/>
            <a:ext cx="914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D4A843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395728"/>
            <a:ext cx="10241280" cy="914400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45920" y="2633472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E2A1A"/>
                </a:solidFill>
              </a:rPr>
              <a:t>Como dividimos roles dentro de una Expedicion con un Fundador?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94176"/>
            <a:ext cx="914400" cy="9144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840480"/>
            <a:ext cx="914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D4A843"/>
                </a:solidFill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81328" y="3694176"/>
            <a:ext cx="10241280" cy="914400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393192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E2A1A"/>
                </a:solidFill>
              </a:rPr>
              <a:t>Cual seria el primer Fundador que abordaríamos juntos?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992624"/>
            <a:ext cx="914400" cy="9144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138928"/>
            <a:ext cx="914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D4A843"/>
                </a:solidFill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81328" y="4992624"/>
            <a:ext cx="10241280" cy="914400"/>
          </a:xfrm>
          <a:prstGeom prst="rect">
            <a:avLst/>
          </a:prstGeom>
          <a:solidFill>
            <a:srgbClr val="EDE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45920" y="5230368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E2A1A"/>
                </a:solidFill>
              </a:rPr>
              <a:t>Que necesitas ver o entender antes de comprometerte?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126480"/>
            <a:ext cx="11247120" cy="530352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619963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D4A843"/>
                </a:solidFill>
              </a:rPr>
              <a:t>Advanx  ·  Ordena. Mide. Escala.  ·  El Gremio que guia expediciones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