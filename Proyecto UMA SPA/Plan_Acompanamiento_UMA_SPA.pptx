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371600"/>
            <a:ext cx="5029200" cy="5029200"/>
          </a:xfrm>
          <a:prstGeom prst="ellipse">
            <a:avLst/>
          </a:prstGeom>
          <a:solidFill>
            <a:srgbClr val="4A7A5C">
              <a:alpha val="30000"/>
            </a:srgbClr>
          </a:solidFill>
          <a:ln w="12700">
            <a:solidFill>
              <a:srgbClr val="4A7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5029200"/>
            <a:ext cx="4114800" cy="4114800"/>
          </a:xfrm>
          <a:prstGeom prst="ellipse">
            <a:avLst/>
          </a:prstGeom>
          <a:solidFill>
            <a:srgbClr val="C9A24A">
              <a:alpha val="15000"/>
            </a:srgbClr>
          </a:solidFill>
          <a:ln w="12700">
            <a:solidFill>
              <a:srgbClr val="C9A24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0584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920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9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ACOMPAÑAMIENTO ESTRATÉGICO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23317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SPA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731520" y="38404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7E3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operar por intuición</a:t>
            </a:r>
            <a:endParaRPr lang="en-US" sz="2400" dirty="0"/>
          </a:p>
          <a:p>
            <a:pPr indent="0" marL="0">
              <a:buNone/>
            </a:pPr>
            <a:r>
              <a:rPr lang="en-US" sz="2400" i="1" dirty="0">
                <a:solidFill>
                  <a:srgbClr val="D7E3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un modelo de negocio sólido y escalable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731520" y="5577840"/>
            <a:ext cx="1097280" cy="4572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Consultor: </a:t>
            </a:r>
            <a:pPr indent="0" marL="0">
              <a:buNone/>
            </a:pPr>
            <a:r>
              <a:rPr lang="en-US" sz="1400" dirty="0">
                <a:solidFill>
                  <a:srgbClr val="D7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· </a:t>
            </a:r>
            <a:pPr indent="0" marL="0">
              <a:buNone/>
            </a:pPr>
            <a:r>
              <a:rPr lang="en-US" sz="1400" b="1" dirty="0">
                <a:solidFill>
                  <a:srgbClr val="D7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</a:t>
            </a:r>
            <a:pPr indent="0" marL="0">
              <a:buNone/>
            </a:pPr>
            <a:r>
              <a:rPr lang="en-US" sz="1400" dirty="0">
                <a:solidFill>
                  <a:srgbClr val="D7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semanas · </a:t>
            </a:r>
            <a:pPr indent="0" marL="0">
              <a:buNone/>
            </a:pPr>
            <a:r>
              <a:rPr lang="en-US" sz="1400" i="1" dirty="0">
                <a:solidFill>
                  <a:srgbClr val="D7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Punto de partida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diagnóstico aplicado el 11 de abril de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114800" cy="4754880"/>
          </a:xfrm>
          <a:prstGeom prst="rect">
            <a:avLst/>
          </a:prstGeom>
          <a:solidFill>
            <a:srgbClr val="1F3B2E"/>
          </a:solidFill>
          <a:ln w="12700">
            <a:solidFill>
              <a:srgbClr val="1F3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Emergente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13000" dirty="0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45 puntos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5074920"/>
            <a:ext cx="548640" cy="36576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2120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7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negocio existe y genera actividad, pero opera más por intuición que por sistema. Es momento de construir estructura antes de crecer."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 por etapa del proceso administrativo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Planeación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2423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 pts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2761488"/>
            <a:ext cx="5029200" cy="164592"/>
          </a:xfrm>
          <a:prstGeom prst="rect">
            <a:avLst/>
          </a:prstGeom>
          <a:solidFill>
            <a:srgbClr val="D7E3DA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2761488"/>
            <a:ext cx="3369564" cy="164592"/>
          </a:xfrm>
          <a:prstGeom prst="rect">
            <a:avLst/>
          </a:prstGeom>
          <a:solidFill>
            <a:srgbClr val="4A7A5C"/>
          </a:solidFill>
          <a:ln w="12700">
            <a:solidFill>
              <a:srgbClr val="4A7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95560" y="2606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Organización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3474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 pts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0" y="3813048"/>
            <a:ext cx="5029200" cy="164592"/>
          </a:xfrm>
          <a:prstGeom prst="rect">
            <a:avLst/>
          </a:prstGeom>
          <a:solidFill>
            <a:srgbClr val="D7E3DA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3813048"/>
            <a:ext cx="1659636" cy="164592"/>
          </a:xfrm>
          <a:prstGeom prst="rect">
            <a:avLst/>
          </a:prstGeom>
          <a:solidFill>
            <a:srgbClr val="B8743E"/>
          </a:solidFill>
          <a:ln w="12700">
            <a:solidFill>
              <a:srgbClr val="4A7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95560" y="3657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33%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972800" y="370332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74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0" y="3703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B87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0" y="4206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Dirección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0" y="4526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 pts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0" y="4864608"/>
            <a:ext cx="5029200" cy="164592"/>
          </a:xfrm>
          <a:prstGeom prst="rect">
            <a:avLst/>
          </a:prstGeom>
          <a:solidFill>
            <a:srgbClr val="D7E3DA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4864608"/>
            <a:ext cx="2212848" cy="164592"/>
          </a:xfrm>
          <a:prstGeom prst="rect">
            <a:avLst/>
          </a:prstGeom>
          <a:solidFill>
            <a:srgbClr val="B8743E"/>
          </a:solidFill>
          <a:ln w="12700">
            <a:solidFill>
              <a:srgbClr val="4A7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95560" y="4709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44%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972800" y="475488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74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0" y="47548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B87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29200" y="5257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029200" y="5577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 pts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0" y="5916168"/>
            <a:ext cx="5029200" cy="164592"/>
          </a:xfrm>
          <a:prstGeom prst="rect">
            <a:avLst/>
          </a:prstGeom>
          <a:solidFill>
            <a:srgbClr val="D7E3DA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0" y="5916168"/>
            <a:ext cx="2514600" cy="164592"/>
          </a:xfrm>
          <a:prstGeom prst="rect">
            <a:avLst/>
          </a:prstGeom>
          <a:solidFill>
            <a:srgbClr val="B8743E"/>
          </a:solidFill>
          <a:ln w="12700">
            <a:solidFill>
              <a:srgbClr val="4A7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95560" y="57607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972800" y="580644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74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972800" y="58064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B87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SPA · Plan de Acompañamiento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 del acompañamiento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vamos a lograr en estas 12 semanas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1828800"/>
            <a:ext cx="2194560" cy="420624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828800"/>
            <a:ext cx="2194560" cy="109728"/>
          </a:xfrm>
          <a:prstGeom prst="rect">
            <a:avLst/>
          </a:prstGeom>
          <a:solidFill>
            <a:srgbClr val="4A7A5C"/>
          </a:solidFill>
          <a:ln w="12700">
            <a:solidFill>
              <a:srgbClr val="4A7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103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B874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28346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de negocio claro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4023360"/>
            <a:ext cx="457200" cy="27432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16052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una propuesta de valor rentable y replicable en UMA SPA.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2194560" cy="420624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1828800"/>
            <a:ext cx="2194560" cy="109728"/>
          </a:xfrm>
          <a:prstGeom prst="rect">
            <a:avLst/>
          </a:prstGeom>
          <a:solidFill>
            <a:srgbClr val="4A7A5C"/>
          </a:solidFill>
          <a:ln w="12700">
            <a:solidFill>
              <a:srgbClr val="4A7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2103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B874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788920" y="28346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Operación con estructura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88920" y="4023360"/>
            <a:ext cx="457200" cy="27432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416052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rutina, procesos y protocolos mínimos viables para el día a día.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83480" y="1828800"/>
            <a:ext cx="2194560" cy="420624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1828800"/>
            <a:ext cx="2194560" cy="109728"/>
          </a:xfrm>
          <a:prstGeom prst="rect">
            <a:avLst/>
          </a:prstGeom>
          <a:solidFill>
            <a:srgbClr val="4A7A5C"/>
          </a:solidFill>
          <a:ln w="12700">
            <a:solidFill>
              <a:srgbClr val="4A7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2103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B874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5166360" y="28346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Motor comercial constante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66360" y="4023360"/>
            <a:ext cx="457200" cy="27432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416052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captación, seguimiento y fidelización de clientes del spa.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60920" y="1828800"/>
            <a:ext cx="2194560" cy="420624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60920" y="1828800"/>
            <a:ext cx="2194560" cy="109728"/>
          </a:xfrm>
          <a:prstGeom prst="rect">
            <a:avLst/>
          </a:prstGeom>
          <a:solidFill>
            <a:srgbClr val="4A7A5C"/>
          </a:solidFill>
          <a:ln w="12700">
            <a:solidFill>
              <a:srgbClr val="4A7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43800" y="2103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B874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7543800" y="28346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 y decisión con datos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543800" y="4023360"/>
            <a:ext cx="457200" cy="27432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3800" y="416052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finanzas, registrar y leer números clave del negocio.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738360" y="1828800"/>
            <a:ext cx="2194560" cy="420624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38360" y="1828800"/>
            <a:ext cx="2194560" cy="109728"/>
          </a:xfrm>
          <a:prstGeom prst="rect">
            <a:avLst/>
          </a:prstGeom>
          <a:solidFill>
            <a:srgbClr val="4A7A5C"/>
          </a:solidFill>
          <a:ln w="12700">
            <a:solidFill>
              <a:srgbClr val="4A7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21240" y="2103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B874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9921240" y="28346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Listo para escalar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921240" y="4023360"/>
            <a:ext cx="457200" cy="27432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21240" y="416052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Elevar el puntaje del diagnóstico de 23 a ≥ 35 / 45 al cierre.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SPA · Plan de Acompañamiento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Enfoque metodológico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trabajaremos semana a semana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210312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777240" cy="777240"/>
          </a:xfrm>
          <a:prstGeom prst="ellipse">
            <a:avLst/>
          </a:prstGeom>
          <a:solidFill>
            <a:srgbClr val="1F3B2E"/>
          </a:solidFill>
          <a:ln w="12700">
            <a:solidFill>
              <a:srgbClr val="1F3B2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488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Ciclo semanal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83080" y="283464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1-a-1 de 90 min + tarea aplicada entre sesiones + check asincrónico de avance.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783080" y="2697480"/>
            <a:ext cx="502920" cy="4572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0" y="1828800"/>
            <a:ext cx="5394960" cy="210312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0" y="2148840"/>
            <a:ext cx="777240" cy="777240"/>
          </a:xfrm>
          <a:prstGeom prst="ellipse">
            <a:avLst/>
          </a:prstGeom>
          <a:solidFill>
            <a:srgbClr val="1F3B2E"/>
          </a:solidFill>
          <a:ln w="12700">
            <a:solidFill>
              <a:srgbClr val="1F3B2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3317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1488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sprints + arranque + cierre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452360" y="283464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 2–3 semanas alineados a Planeación, Organización, Dirección y Control.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452360" y="2697480"/>
            <a:ext cx="502920" cy="4572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4206240"/>
            <a:ext cx="5394960" cy="210312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" y="4526280"/>
            <a:ext cx="777240" cy="777240"/>
          </a:xfrm>
          <a:prstGeom prst="ellipse">
            <a:avLst/>
          </a:prstGeom>
          <a:solidFill>
            <a:srgbClr val="1F3B2E"/>
          </a:solidFill>
          <a:ln w="12700">
            <a:solidFill>
              <a:srgbClr val="1F3B2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70916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83080" y="45262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Entregables tangibles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783080" y="521208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Canvas, protocolos, plantillas financieras y tableros listos para usar — no teoría.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1783080" y="5074920"/>
            <a:ext cx="502920" cy="4572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217920" y="4206240"/>
            <a:ext cx="5394960" cy="210312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92240" y="4526280"/>
            <a:ext cx="777240" cy="777240"/>
          </a:xfrm>
          <a:prstGeom prst="ellipse">
            <a:avLst/>
          </a:prstGeom>
          <a:solidFill>
            <a:srgbClr val="1F3B2E"/>
          </a:solidFill>
          <a:ln w="12700">
            <a:solidFill>
              <a:srgbClr val="1F3B2E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70916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52360" y="45262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Medición continua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7452360" y="521208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del acompañamiento revisados cada sprint y re-aplicación del diagnóstico al cierre.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7452360" y="5074920"/>
            <a:ext cx="502920" cy="4572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SPA · Plan de Acompañamiento 2026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Ruta general · 12 semanas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arranque, cuatro sprints y un cierre con roadmap de escalamiento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3657600"/>
            <a:ext cx="10515600" cy="36576"/>
          </a:xfrm>
          <a:prstGeom prst="rect">
            <a:avLst/>
          </a:prstGeom>
          <a:solidFill>
            <a:srgbClr val="D7E3DA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4712" y="3474720"/>
            <a:ext cx="402336" cy="402336"/>
          </a:xfrm>
          <a:prstGeom prst="ellipse">
            <a:avLst/>
          </a:prstGeom>
          <a:solidFill>
            <a:srgbClr val="1F3B2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4340" y="2011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4340" y="2331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Arranque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4340" y="41605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 y línea base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26664" y="3474720"/>
            <a:ext cx="402336" cy="402336"/>
          </a:xfrm>
          <a:prstGeom prst="ellipse">
            <a:avLst/>
          </a:prstGeom>
          <a:solidFill>
            <a:srgbClr val="4A7A5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6292" y="2011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2–3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36292" y="2331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7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336292" y="41605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Planeación · Modelo de negocio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28616" y="3474720"/>
            <a:ext cx="402336" cy="402336"/>
          </a:xfrm>
          <a:prstGeom prst="ellipse">
            <a:avLst/>
          </a:prstGeom>
          <a:solidFill>
            <a:srgbClr val="B8743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38244" y="2011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4–6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38244" y="2331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74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2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718304" y="2926080"/>
            <a:ext cx="822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874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2926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B87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238244" y="41605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· Procesos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30568" y="3474720"/>
            <a:ext cx="402336" cy="402336"/>
          </a:xfrm>
          <a:prstGeom prst="ellipse">
            <a:avLst/>
          </a:prstGeom>
          <a:solidFill>
            <a:srgbClr val="B8743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0196" y="2011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7–9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40196" y="2331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74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3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620256" y="2926080"/>
            <a:ext cx="822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874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0256" y="2926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B87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140196" y="41605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· Crecimiento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732520" y="3474720"/>
            <a:ext cx="402336" cy="402336"/>
          </a:xfrm>
          <a:prstGeom prst="ellipse">
            <a:avLst/>
          </a:prstGeom>
          <a:solidFill>
            <a:srgbClr val="B8743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2148" y="2011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10–11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2148" y="2331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74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4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522208" y="2926080"/>
            <a:ext cx="822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874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22208" y="2926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B87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042148" y="41605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· Finanzas y KPIs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634472" y="3474720"/>
            <a:ext cx="402336" cy="402336"/>
          </a:xfrm>
          <a:prstGeom prst="ellipse">
            <a:avLst/>
          </a:prstGeom>
          <a:solidFill>
            <a:srgbClr val="1F3B2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44100" y="2011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944100" y="2331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Cierre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944100" y="41605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escalamiento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fuerza del programa está en los 3 sprints prioritarios: Organización, Dirección y Control.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SPA · Plan de Acompañamiento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645920" cy="365760"/>
          </a:xfrm>
          <a:prstGeom prst="rect">
            <a:avLst/>
          </a:prstGeom>
          <a:solidFill>
            <a:srgbClr val="1F3B2E"/>
          </a:solidFill>
          <a:ln w="12700">
            <a:solidFill>
              <a:srgbClr val="1F3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Arranque · Alineación y línea base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cero del acompañamiento: expectativas claras y compromisos mutuos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64240" cy="59436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11680"/>
            <a:ext cx="91440" cy="594360"/>
          </a:xfrm>
          <a:prstGeom prst="rect">
            <a:avLst/>
          </a:prstGeom>
          <a:solidFill>
            <a:srgbClr val="1F3B2E"/>
          </a:solidFill>
          <a:ln w="12700">
            <a:solidFill>
              <a:srgbClr val="1F3B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116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 </a:t>
            </a:r>
            <a:pPr indent="0" marL="0">
              <a:buNone/>
            </a:pPr>
            <a:r>
              <a:rPr lang="en-US" sz="13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Arrancar con reglas claras, datos sobre la mesa y una bitácora compartida que ordene el proceso.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Actividades clave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548640" cy="27432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383280"/>
            <a:ext cx="5394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de arranque: expectativas, reglas, cadencia y canales de comunicación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profunda de los resultados del diagnóstico aplicado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KPIs del acompañamiento y línea base medible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Acuerdos de confidencialidad, acceso a datos y herramientas del spa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2880360"/>
            <a:ext cx="5394960" cy="3566160"/>
          </a:xfrm>
          <a:prstGeom prst="rect">
            <a:avLst/>
          </a:prstGeom>
          <a:solidFill>
            <a:srgbClr val="1F3B2E"/>
          </a:solidFill>
          <a:ln w="12700">
            <a:solidFill>
              <a:srgbClr val="1F3B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3108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347472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de inicio firmada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compartida del acompañamiento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KPIs del proceso con línea base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de sesiones de las 12 semanas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SPA · Plan de Acompañamiento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645920" cy="365760"/>
          </a:xfrm>
          <a:prstGeom prst="rect">
            <a:avLst/>
          </a:prstGeom>
          <a:solidFill>
            <a:srgbClr val="4A7A5C"/>
          </a:solidFill>
          <a:ln w="12700">
            <a:solidFill>
              <a:srgbClr val="4A7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2–3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1 · Planeación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Afinar un modelo de negocio claro, rentable y replicable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64240" cy="59436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11680"/>
            <a:ext cx="91440" cy="594360"/>
          </a:xfrm>
          <a:prstGeom prst="rect">
            <a:avLst/>
          </a:prstGeom>
          <a:solidFill>
            <a:srgbClr val="4A7A5C"/>
          </a:solidFill>
          <a:ln w="12700">
            <a:solidFill>
              <a:srgbClr val="4A7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116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 </a:t>
            </a:r>
            <a:pPr indent="0" marL="0">
              <a:buNone/>
            </a:pPr>
            <a:r>
              <a:rPr lang="en-US" sz="13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Planeación es el área más fuerte (67%), le falta concreción para sostener crecimiento.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Actividades clave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548640" cy="27432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383280"/>
            <a:ext cx="5394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el Business Model Canvas de UMA SPA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propuesta de valor única (para quién, qué promete, por qué nosotros)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el perfil de cliente ideal: necesidades, detonantes y objeciones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pricing: costos reales por servicio, valor percibido, márgenes y paquetes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 metas SMART a 6 y 12 meses y criterios para contratar o asociarse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2880360"/>
            <a:ext cx="5394960" cy="3566160"/>
          </a:xfrm>
          <a:prstGeom prst="rect">
            <a:avLst/>
          </a:prstGeom>
          <a:solidFill>
            <a:srgbClr val="1F3B2E"/>
          </a:solidFill>
          <a:ln w="12700">
            <a:solidFill>
              <a:srgbClr val="1F3B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3108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347472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Canvas completo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cliente ideal (ICP)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Tarifario v1 con márgenes por servicio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metas a 6–12 meses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concretos de contratación / asociación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SPA · Plan de Acompañamiento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645920" cy="365760"/>
          </a:xfrm>
          <a:prstGeom prst="rect">
            <a:avLst/>
          </a:prstGeom>
          <a:solidFill>
            <a:srgbClr val="B8743E"/>
          </a:solidFill>
          <a:ln w="12700">
            <a:solidFill>
              <a:srgbClr val="B874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4–6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331720" y="36576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74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3172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87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2 · Organización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la estructura operativa que hoy no existe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1064240" cy="59436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011680"/>
            <a:ext cx="91440" cy="594360"/>
          </a:xfrm>
          <a:prstGeom prst="rect">
            <a:avLst/>
          </a:prstGeom>
          <a:solidFill>
            <a:srgbClr val="B8743E"/>
          </a:solidFill>
          <a:ln w="12700">
            <a:solidFill>
              <a:srgbClr val="B874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0116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7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 </a:t>
            </a:r>
            <a:pPr indent="0" marL="0">
              <a:buNone/>
            </a:pPr>
            <a:r>
              <a:rPr lang="en-US" sz="13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más débil del diagnóstico (33%). Sin rutina ni procesos documentados, el crecimiento genera caos.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Actividades clave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264408"/>
            <a:ext cx="548640" cy="27432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83280"/>
            <a:ext cx="5394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rutina semanal tipo: bloques de operación, venta, admin y formación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el flujo de atención: pre-reserva → experiencia en cabina → post-servicio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protocolo (SOP) de atención: guion, tiempos, higiene y detalles de experiencia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sistema digital de agendamiento y reservas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checklists operativos (apertura, cierre, preparación de cabina)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2880360"/>
            <a:ext cx="5394960" cy="3566160"/>
          </a:xfrm>
          <a:prstGeom prst="rect">
            <a:avLst/>
          </a:prstGeom>
          <a:solidFill>
            <a:srgbClr val="1F3B2E"/>
          </a:solidFill>
          <a:ln w="12700">
            <a:solidFill>
              <a:srgbClr val="1F3B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3108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347472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operativo mínimo viable de UMA SPA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de rutina semanal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documentado de atención al cliente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reservas activo y en uso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 diarios de apertura y cierre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SPA · Plan de Acompañamiento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645920" cy="365760"/>
          </a:xfrm>
          <a:prstGeom prst="rect">
            <a:avLst/>
          </a:prstGeom>
          <a:solidFill>
            <a:srgbClr val="B8743E"/>
          </a:solidFill>
          <a:ln w="12700">
            <a:solidFill>
              <a:srgbClr val="B874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7–9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331720" y="36576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74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3172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87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3 · Dirección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conseguir clientes por reacción a un motor comercial constante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1064240" cy="59436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011680"/>
            <a:ext cx="91440" cy="594360"/>
          </a:xfrm>
          <a:prstGeom prst="rect">
            <a:avLst/>
          </a:prstGeom>
          <a:solidFill>
            <a:srgbClr val="B8743E"/>
          </a:solidFill>
          <a:ln w="12700">
            <a:solidFill>
              <a:srgbClr val="B874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0116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7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 </a:t>
            </a:r>
            <a:pPr indent="0" marL="0">
              <a:buNone/>
            </a:pPr>
            <a:r>
              <a:rPr lang="en-US" sz="13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de captación ocasional y cero seguimiento a un sistema que alimenta la agenda cada semana.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Actividades clave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264408"/>
            <a:ext cx="548640" cy="27432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83280"/>
            <a:ext cx="5394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canales de adquisición (referidos, redes, alianzas locales, convenios)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embudo simple: prospecto → contacto → reserva → recompra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programa de seguimiento y fidelización (recordatorios, membresías, bonos)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Lanzar campaña de reactivación de clientes antiguos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rutina personal de aprendizaje continuo y auto-liderazgo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2880360"/>
            <a:ext cx="5394960" cy="3566160"/>
          </a:xfrm>
          <a:prstGeom prst="rect">
            <a:avLst/>
          </a:prstGeom>
          <a:solidFill>
            <a:srgbClr val="1F3B2E"/>
          </a:solidFill>
          <a:ln w="12700">
            <a:solidFill>
              <a:srgbClr val="1F3B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3108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347472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comercial de 90 días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básico (Sheets o Notion) con clientes activos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Guion y campaña de reactivación ejecutada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de contenido y publicaciones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formación continua del emprendedor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SPA · Plan de Acompañamiento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645920" cy="365760"/>
          </a:xfrm>
          <a:prstGeom prst="rect">
            <a:avLst/>
          </a:prstGeom>
          <a:solidFill>
            <a:srgbClr val="B8743E"/>
          </a:solidFill>
          <a:ln w="12700">
            <a:solidFill>
              <a:srgbClr val="B874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10–11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331720" y="36576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74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3172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87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4 · Control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financiera y decisiones con datos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1064240" cy="59436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011680"/>
            <a:ext cx="91440" cy="594360"/>
          </a:xfrm>
          <a:prstGeom prst="rect">
            <a:avLst/>
          </a:prstGeom>
          <a:solidFill>
            <a:srgbClr val="B8743E"/>
          </a:solidFill>
          <a:ln w="12700">
            <a:solidFill>
              <a:srgbClr val="B874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0116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7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 </a:t>
            </a:r>
            <a:pPr indent="0" marL="0">
              <a:buNone/>
            </a:pPr>
            <a:r>
              <a:rPr lang="en-US" sz="13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no hay registro formal de ingresos/gastos y el dinero personal y del negocio se mezclan.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Actividades clave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264408"/>
            <a:ext cx="548640" cy="27432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83280"/>
            <a:ext cx="5394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por completo finanzas personales y del negocio (cuentas, medios de pago)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sistema simple de registro de ingresos y gastos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el punto de equilibrio mensual del spa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tablero de KPIs: ventas, ticket promedio, ocupación, recompra, origen del cliente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rutina mensual de revisión financiera y toma de decisiones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2880360"/>
            <a:ext cx="5394960" cy="3566160"/>
          </a:xfrm>
          <a:prstGeom prst="rect">
            <a:avLst/>
          </a:prstGeom>
          <a:solidFill>
            <a:srgbClr val="1F3B2E"/>
          </a:solidFill>
          <a:ln w="12700">
            <a:solidFill>
              <a:srgbClr val="1F3B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3108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347472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financiera mensual activa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KPIs operativos y comerciales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punto de equilibrio mensual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caja proyectado a 3 meses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revisión financiera mensual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SPA · Plan de Acompañamiento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645920" cy="365760"/>
          </a:xfrm>
          <a:prstGeom prst="rect">
            <a:avLst/>
          </a:prstGeom>
          <a:solidFill>
            <a:srgbClr val="1F3B2E"/>
          </a:solidFill>
          <a:ln w="12700">
            <a:solidFill>
              <a:srgbClr val="1F3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Cierre · Evaluación y roadmap de escalamiento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el avance y proyectar los próximos 6–12 meses de crecimiento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64240" cy="59436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11680"/>
            <a:ext cx="91440" cy="594360"/>
          </a:xfrm>
          <a:prstGeom prst="rect">
            <a:avLst/>
          </a:prstGeom>
          <a:solidFill>
            <a:srgbClr val="1F3B2E"/>
          </a:solidFill>
          <a:ln w="12700">
            <a:solidFill>
              <a:srgbClr val="1F3B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116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 </a:t>
            </a:r>
            <a:pPr indent="0" marL="0">
              <a:buNone/>
            </a:pPr>
            <a:r>
              <a:rPr lang="en-US" sz="13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el acompañamiento con números antes/después y un plan claro para lo que sigue.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Actividades clave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548640" cy="27432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383280"/>
            <a:ext cx="5394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Re-aplicar el diagnóstico administrativo y comparar con la línea base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el roadmap de escalamiento a 6–12 meses (nuevos servicios, cabina, equipo)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el plan de continuidad post-acompañamiento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de cierre y retroalimentación mutua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2880360"/>
            <a:ext cx="5394960" cy="3566160"/>
          </a:xfrm>
          <a:prstGeom prst="rect">
            <a:avLst/>
          </a:prstGeom>
          <a:solidFill>
            <a:srgbClr val="1F3B2E"/>
          </a:solidFill>
          <a:ln w="12700">
            <a:solidFill>
              <a:srgbClr val="1F3B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3108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347472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final con comparativo antes / después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escalamiento 6–12 meses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revisiones mensuales o trimestrales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consolidada de todos los entregables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SPA · Plan de Acompañamiento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Entregables consolidados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UMA SPA tendrá en las manos al cerrar las 12 semanas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88620" y="1783080"/>
            <a:ext cx="2743200" cy="210312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" y="2011680"/>
            <a:ext cx="640080" cy="640080"/>
          </a:xfrm>
          <a:prstGeom prst="ellipse">
            <a:avLst/>
          </a:prstGeom>
          <a:solidFill>
            <a:srgbClr val="1F3B2E"/>
          </a:solidFill>
          <a:ln w="12700">
            <a:solidFill>
              <a:srgbClr val="1F3B2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259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94460" y="2057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de negocio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17220" y="27889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Canvas, propuesta de valor, cliente ideal y tarifario con márgenes.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68980" y="1783080"/>
            <a:ext cx="2743200" cy="210312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97580" y="2011680"/>
            <a:ext cx="640080" cy="640080"/>
          </a:xfrm>
          <a:prstGeom prst="ellipse">
            <a:avLst/>
          </a:prstGeom>
          <a:solidFill>
            <a:srgbClr val="1F3B2E"/>
          </a:solidFill>
          <a:ln w="12700">
            <a:solidFill>
              <a:srgbClr val="1F3B2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1259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74820" y="2057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Operación documentada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97580" y="27889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operativo, SOP de atención y checklists diarios.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49340" y="1783080"/>
            <a:ext cx="2743200" cy="210312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77940" y="2011680"/>
            <a:ext cx="640080" cy="640080"/>
          </a:xfrm>
          <a:prstGeom prst="ellipse">
            <a:avLst/>
          </a:prstGeom>
          <a:solidFill>
            <a:srgbClr val="1F3B2E"/>
          </a:solidFill>
          <a:ln w="12700">
            <a:solidFill>
              <a:srgbClr val="1F3B2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2598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55180" y="2057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de reservas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77940" y="27889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digital activa con flujos definidos de pre y post-servicio.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029700" y="1783080"/>
            <a:ext cx="2743200" cy="210312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258300" y="2011680"/>
            <a:ext cx="640080" cy="640080"/>
          </a:xfrm>
          <a:prstGeom prst="ellipse">
            <a:avLst/>
          </a:prstGeom>
          <a:solidFill>
            <a:srgbClr val="1F3B2E"/>
          </a:solidFill>
          <a:ln w="12700">
            <a:solidFill>
              <a:srgbClr val="1F3B2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212598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35540" y="2057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comercial 90 días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258300" y="27889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 priorizados, embudo, calendario de contenido y campañas.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88620" y="4023360"/>
            <a:ext cx="2743200" cy="210312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17220" y="4251960"/>
            <a:ext cx="640080" cy="640080"/>
          </a:xfrm>
          <a:prstGeom prst="ellipse">
            <a:avLst/>
          </a:prstGeom>
          <a:solidFill>
            <a:srgbClr val="1F3B2E"/>
          </a:solidFill>
          <a:ln w="12700">
            <a:solidFill>
              <a:srgbClr val="1F3B2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36626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94460" y="4297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CRM básico de clientes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617220" y="50292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con seguimiento, recompra y reactivación.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268980" y="4023360"/>
            <a:ext cx="2743200" cy="210312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497580" y="4251960"/>
            <a:ext cx="640080" cy="640080"/>
          </a:xfrm>
          <a:prstGeom prst="ellipse">
            <a:avLst/>
          </a:prstGeom>
          <a:solidFill>
            <a:srgbClr val="1F3B2E"/>
          </a:solidFill>
          <a:ln w="12700">
            <a:solidFill>
              <a:srgbClr val="1F3B2E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880" y="4366260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274820" y="4297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Tablero financiero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3497580" y="50292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punto de equilibrio, flujo de caja y KPIs mensuales.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149340" y="4023360"/>
            <a:ext cx="2743200" cy="210312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377940" y="4251960"/>
            <a:ext cx="640080" cy="640080"/>
          </a:xfrm>
          <a:prstGeom prst="ellipse">
            <a:avLst/>
          </a:prstGeom>
          <a:solidFill>
            <a:srgbClr val="1F3B2E"/>
          </a:solidFill>
          <a:ln w="12700">
            <a:solidFill>
              <a:srgbClr val="1F3B2E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4366260"/>
            <a:ext cx="411480" cy="41148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155180" y="4297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de escalamiento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6377940" y="50292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6–12 meses con hitos, riesgos y decisiones clave.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9029700" y="4023360"/>
            <a:ext cx="2743200" cy="210312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9258300" y="4251960"/>
            <a:ext cx="640080" cy="640080"/>
          </a:xfrm>
          <a:prstGeom prst="ellipse">
            <a:avLst/>
          </a:prstGeom>
          <a:solidFill>
            <a:srgbClr val="1F3B2E"/>
          </a:solidFill>
          <a:ln w="12700">
            <a:solidFill>
              <a:srgbClr val="1F3B2E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2600" y="4366260"/>
            <a:ext cx="411480" cy="41148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0035540" y="4297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Rutinas del emprendedor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9258300" y="50292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semanal, revisión mensual y plan de formación continua.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SPA · Plan de Acompañamiento 2026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KPIs del acompañamiento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mediremos el éxito del programa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3017520"/>
          </a:xfrm>
          <a:prstGeom prst="rect">
            <a:avLst/>
          </a:prstGeom>
          <a:solidFill>
            <a:srgbClr val="1F3B2E"/>
          </a:solidFill>
          <a:ln w="12700">
            <a:solidFill>
              <a:srgbClr val="1F3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D7E3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77240" y="3520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9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77440" y="2331720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200400" y="224028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35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3200400" y="3520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9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al cierre · / 45 puntos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4069080"/>
            <a:ext cx="457200" cy="27432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160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D7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Re-aplicación del diagnóstico en la semana 12 con comparativo lado a lado.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737360"/>
            <a:ext cx="5303520" cy="658368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737360"/>
            <a:ext cx="73152" cy="658368"/>
          </a:xfrm>
          <a:prstGeom prst="rect">
            <a:avLst/>
          </a:prstGeom>
          <a:solidFill>
            <a:srgbClr val="4A7A5C"/>
          </a:solidFill>
          <a:ln w="12700">
            <a:solidFill>
              <a:srgbClr val="4A7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7830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críticos documentados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241280" y="17830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7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→ 100%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2487168"/>
            <a:ext cx="5303520" cy="658368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2487168"/>
            <a:ext cx="73152" cy="658368"/>
          </a:xfrm>
          <a:prstGeom prst="rect">
            <a:avLst/>
          </a:prstGeom>
          <a:solidFill>
            <a:srgbClr val="4A7A5C"/>
          </a:solidFill>
          <a:ln w="12700">
            <a:solidFill>
              <a:srgbClr val="4A7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53288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en base de datos con seguimiento activo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241280" y="253288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7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definida en sem 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3236976"/>
            <a:ext cx="5303520" cy="658368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3236976"/>
            <a:ext cx="73152" cy="658368"/>
          </a:xfrm>
          <a:prstGeom prst="rect">
            <a:avLst/>
          </a:prstGeom>
          <a:solidFill>
            <a:srgbClr val="4A7A5C"/>
          </a:solidFill>
          <a:ln w="12700">
            <a:solidFill>
              <a:srgbClr val="4A7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328269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por servicio identificado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241280" y="328269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7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/ No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3986784"/>
            <a:ext cx="5303520" cy="658368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3986784"/>
            <a:ext cx="73152" cy="658368"/>
          </a:xfrm>
          <a:prstGeom prst="rect">
            <a:avLst/>
          </a:prstGeom>
          <a:solidFill>
            <a:srgbClr val="4A7A5C"/>
          </a:solidFill>
          <a:ln w="12700">
            <a:solidFill>
              <a:srgbClr val="4A7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403250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 rutina semanal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0" y="403250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7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4736592"/>
            <a:ext cx="5303520" cy="658368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4736592"/>
            <a:ext cx="73152" cy="658368"/>
          </a:xfrm>
          <a:prstGeom prst="rect">
            <a:avLst/>
          </a:prstGeom>
          <a:solidFill>
            <a:srgbClr val="4A7A5C"/>
          </a:solidFill>
          <a:ln w="12700">
            <a:solidFill>
              <a:srgbClr val="4A7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478231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total de finanzas personales y del negocio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241280" y="478231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7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/ No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5486400"/>
            <a:ext cx="5303520" cy="658368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5486400"/>
            <a:ext cx="73152" cy="658368"/>
          </a:xfrm>
          <a:prstGeom prst="rect">
            <a:avLst/>
          </a:prstGeom>
          <a:solidFill>
            <a:srgbClr val="4A7A5C"/>
          </a:solidFill>
          <a:ln w="12700">
            <a:solidFill>
              <a:srgbClr val="4A7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553212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Recompra / retención de clientes del spa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241280" y="55321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7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 + mejora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SPA · Plan de Acompañamiento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Compromisos y condiciones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juego del acompañamiento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1148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5394960" cy="109728"/>
          </a:xfrm>
          <a:prstGeom prst="rect">
            <a:avLst/>
          </a:prstGeom>
          <a:solidFill>
            <a:srgbClr val="1F3B2E"/>
          </a:solidFill>
          <a:ln w="12700">
            <a:solidFill>
              <a:srgbClr val="1F3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57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CONSULTOR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me comprometo a entregar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semanales puntuales de 90 minutos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Materiales, plantillas y frameworks listos para usar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 escrita tras cada entregable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asincrónico durante la semana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 total sobre datos del negocio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94960" cy="41148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783080"/>
            <a:ext cx="5394960" cy="109728"/>
          </a:xfrm>
          <a:prstGeom prst="rect">
            <a:avLst/>
          </a:prstGeom>
          <a:solidFill>
            <a:srgbClr val="B8743E"/>
          </a:solidFill>
          <a:ln w="12700">
            <a:solidFill>
              <a:srgbClr val="B87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057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87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EMPRENDEDOR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3774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necesito de ti para que funcione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92240" y="297180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puntual y preparada a cada sesión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real de las tareas aplicadas entre sesiones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total con datos financieros y de clientes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Disposición a cuestionar ideas y cambiar de enfoque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proactiva ante dudas o bloqueos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solidFill>
            <a:srgbClr val="1F3B2E"/>
          </a:solidFill>
          <a:ln w="12700">
            <a:solidFill>
              <a:srgbClr val="1F3B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Cadencia · 1 sesión semanal de 90 min + revisiones asincrónicas durante la semana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SPA · Plan de Acompañamiento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828800"/>
            <a:ext cx="4114800" cy="4114800"/>
          </a:xfrm>
          <a:prstGeom prst="ellipse">
            <a:avLst/>
          </a:prstGeom>
          <a:solidFill>
            <a:srgbClr val="4A7A5C">
              <a:alpha val="20000"/>
            </a:srgbClr>
          </a:solidFill>
          <a:ln w="12700">
            <a:solidFill>
              <a:srgbClr val="4A7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5212080"/>
            <a:ext cx="3474720" cy="3474720"/>
          </a:xfrm>
          <a:prstGeom prst="ellipse">
            <a:avLst/>
          </a:prstGeom>
          <a:solidFill>
            <a:srgbClr val="C9A24A">
              <a:alpha val="12000"/>
            </a:srgbClr>
          </a:solidFill>
          <a:ln w="12700">
            <a:solidFill>
              <a:srgbClr val="C9A24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9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18745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Arranquemos</a:t>
            </a:r>
            <a:endParaRPr lang="en-US" sz="5600" dirty="0"/>
          </a:p>
        </p:txBody>
      </p:sp>
      <p:sp>
        <p:nvSpPr>
          <p:cNvPr id="7" name="Shape 4"/>
          <p:cNvSpPr/>
          <p:nvPr/>
        </p:nvSpPr>
        <p:spPr>
          <a:xfrm>
            <a:off x="731520" y="3383280"/>
            <a:ext cx="3474720" cy="2286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9A2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35661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9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960120" y="4297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Firmar acta de inicio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60120" y="48006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7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alcance, cadencia y compromisos mutuos antes de arrancar.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89120" y="3383280"/>
            <a:ext cx="3474720" cy="2286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9A2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17720" y="35661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9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4617720" y="4297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Agendar sesión 1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617720" y="48006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7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fecha y hora de la primera sesión de línea base.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46720" y="3383280"/>
            <a:ext cx="3474720" cy="2286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9A2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75320" y="35661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9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8275320" y="4297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Compartir accesos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275320" y="48006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7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Agenda, herramientas, datos financieros y base de clientes.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1520" y="6035040"/>
            <a:ext cx="1097280" cy="4572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6172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7E3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Gracias. Construyamos un UMA SPA que crezca sin perderte en el intento.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Acompañamiento UMA SPA</dc:title>
  <dc:subject>PptxGenJS Presentation</dc:subject>
  <dc:creator>Consultoría — Diego</dc:creator>
  <cp:lastModifiedBy>Consultoría — Diego</cp:lastModifiedBy>
  <cp:revision>1</cp:revision>
  <dcterms:created xsi:type="dcterms:W3CDTF">2026-04-20T03:02:24Z</dcterms:created>
  <dcterms:modified xsi:type="dcterms:W3CDTF">2026-04-20T03:02:24Z</dcterms:modified>
</cp:coreProperties>
</file>